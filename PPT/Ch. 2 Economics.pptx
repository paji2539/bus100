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577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800" b="0" i="0" u="none" strike="noStrike" dirty="0">
                <a:solidFill>
                  <a:srgbClr val="1E2761"/>
                </a:solidFill>
                <a:latin typeface="Arial"/>
              </a:rPr>
              <a:t>Supply &amp; Demand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22</c:v>
                </c:pt>
                <c:pt idx="2">
                  <c:v>34</c:v>
                </c:pt>
                <c:pt idx="3">
                  <c:v>46</c:v>
                </c:pt>
                <c:pt idx="4">
                  <c:v>58</c:v>
                </c:pt>
                <c:pt idx="5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D1-471F-99C6-D1AA3A1AE6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</c:v>
                </c:pt>
              </c:strCache>
            </c:strRef>
          </c:tx>
          <c:spPr>
            <a:ln w="38100" cap="flat">
              <a:solidFill>
                <a:srgbClr val="E8B1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58</c:v>
                </c:pt>
                <c:pt idx="2">
                  <c:v>46</c:v>
                </c:pt>
                <c:pt idx="3">
                  <c:v>34</c:v>
                </c:pt>
                <c:pt idx="4">
                  <c:v>22</c:v>
                </c:pt>
                <c:pt idx="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D1-471F-99C6-D1AA3A1AE6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9E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B6B9E"/>
                    </a:solidFill>
                    <a:latin typeface="Arial"/>
                  </a:rPr>
                  <a:t>Quantity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B9E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5B6B9E"/>
                    </a:solidFill>
                    <a:latin typeface="Arial"/>
                  </a:rPr>
                  <a:t>Price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E4B74D-CC15-63DA-BC6A-9AE3B1DDB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1AA34-D4C5-2565-B1A7-D7B16BB9A7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1273A-F987-4842-8664-29D70611C48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6F52F-70E0-0C41-CC7C-B563770BB2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03AE9-FCA5-B1E9-5139-7AEBE04171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CF54B-730C-4C84-A28F-F93F3029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18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8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8364DB-DB5F-853F-9D7D-3BEDE3B392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9868" y="6111238"/>
            <a:ext cx="2177802" cy="746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6000">
              <a:schemeClr val="accent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100 · CHAPTER 2							Prof. Jin Park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 of Economics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you've ever paid was settled by two forces pushing against each other. Today you learn to name them.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8046720" cy="18288"/>
          </a:xfrm>
          <a:prstGeom prst="rect">
            <a:avLst/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79" y="39776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study of how individuals and businesses make decisions to best satisfy wants, needs, and desires with limited resources.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92640" y="1828800"/>
            <a:ext cx="1463040" cy="146304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0" y="1828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0698480" y="3657600"/>
            <a:ext cx="914400" cy="914400"/>
          </a:xfrm>
          <a:prstGeom prst="ellipse">
            <a:avLst/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98480" y="3657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look at the same economy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splits into two studies that ask different questions at different altitudes.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2514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Microeconomics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businesses, households, and consumers allocate limited resources. Should we raise our price? How many units do we make?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0" y="2240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2514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of the overall economy. Is it growing? Are prices rising? Are people employed? Is borrowing cheap right now?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economy answers three questions. What separates systems is who answers them.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produced?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97680" y="16916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produced?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46720" y="1691640"/>
            <a:ext cx="3429000" cy="64008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it?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15600" cy="1097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3364992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73568" y="3108960"/>
            <a:ext cx="3364992" cy="109728"/>
          </a:xfrm>
          <a:prstGeom prst="rect">
            <a:avLst/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563624" y="3081528"/>
            <a:ext cx="164592" cy="16459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decides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8464" y="3081528"/>
            <a:ext cx="164592" cy="16459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 of both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33304" y="3081528"/>
            <a:ext cx="164592" cy="16459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926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market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9264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sellers decide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government control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government control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" y="4937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737360" y="48463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business managers need to be concerned with economics?  Where would you put the United States on this continuum, and why?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and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respond to price in opposite directions — which is exactly why a price ever settles anywhere.</a:t>
            </a:r>
            <a:endParaRPr lang="en-US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55947864"/>
              </p:ext>
            </p:extLst>
          </p:nvPr>
        </p:nvGraphicFramePr>
        <p:xfrm>
          <a:off x="548640" y="1691640"/>
          <a:ext cx="61264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9164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05362" y="1828800"/>
            <a:ext cx="43789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supply
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↑ → supply ↑   ·   Price ↓ → supply ↓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949440" y="3291840"/>
            <a:ext cx="4709160" cy="1417320"/>
          </a:xfrm>
          <a:prstGeom prst="roundRect">
            <a:avLst>
              <a:gd name="adj" fmla="val 645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05362" y="3429000"/>
            <a:ext cx="4709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demand
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↓ → demand ↑   ·   Price ↑ → demand ↓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949440" y="4892040"/>
            <a:ext cx="4709160" cy="15544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23760" y="4961187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price
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supply meets demand — everyone who wants the item at this price can get one, with none left over.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shifts the curves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moves you along the curve. These determinants move the curve itself.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SUPPLY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78992" y="24231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change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78992" y="299008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price change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78992" y="355701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expectations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8992" y="412394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suppliers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78992" y="469087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good pricing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55080" y="173736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E8B145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6355080" y="173736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DEMAND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55080" y="24231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85432" y="24231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 changes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355080" y="2990088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85432" y="299008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changes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55080" y="355701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85432" y="355701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preference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355080" y="41239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85432" y="412394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goods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55080" y="469087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85432" y="469087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goods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Degrees of business competition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spectrum, not on/off — where a market sits decides how much pricing power a seller has.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015" y="2890185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Monopoly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6015" y="3438825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3A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30655" y="2890185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Duopoly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30655" y="3438825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sellers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7B8A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65295" y="2890185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Oligopoly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65295" y="3438825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sellers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E8B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3544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99935" y="2890185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99935" y="3438825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sellers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competition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competition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67630" y="5479221"/>
            <a:ext cx="8945250" cy="868680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6876" y="5479221"/>
            <a:ext cx="85016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discussion:  </a:t>
            </a: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real company operating in each degree of competition — and be ready to defend the call.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indicators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about economic activity, grouped by when they tell you something.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predict the near future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Stock prices, new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Coincident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how things are right now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3440" y="4434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GDP, employment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4964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964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Lagging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503920" y="36576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only after the economy has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503920" y="4434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Unemployment rate, CPI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cycle &amp; policy levers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economy swings on its own — government has two sets of levers to smooth it out.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B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Policy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federal government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policy
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much money stays in people's hands to spend.
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spending
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money into the economy directly and creates jobs.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 Policy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2940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Fed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the money supply — the combined amount of money available in the economy. The Fed works through: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629400" y="4226265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422626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32320" y="4226265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market operations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29400" y="4774905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477490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32320" y="4774905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 rate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29400" y="536133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9400" y="536133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32320" y="5323545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requirement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ledger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said a business sells products to earn a profit. Chapter 2 explains who sets that price, how many rivals get a say, and what happens when the whole economy turns.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841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42516" y="233172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42516" y="233172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Microeconomics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6452" y="233172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6452" y="233172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0388" y="2331720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0388" y="2331720"/>
            <a:ext cx="99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1760220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economy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2188" y="2331720"/>
            <a:ext cx="214426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2188" y="2331720"/>
            <a:ext cx="2144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market economy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economy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26564" y="278892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26564" y="278892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32404" y="278892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32404" y="278892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38244" y="2788920"/>
            <a:ext cx="310438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38244" y="2788920"/>
            <a:ext cx="31043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 of supply/demand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2788920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52360" y="2788920"/>
            <a:ext cx="1952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price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14332" y="278892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14332" y="2788920"/>
            <a:ext cx="1088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99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Duopoly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50492" y="324612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50492" y="3246120"/>
            <a:ext cx="11841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Oligopoly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44368" y="3246120"/>
            <a:ext cx="214426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44368" y="3246120"/>
            <a:ext cx="2144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competition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98364" y="3246120"/>
            <a:ext cx="214426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98364" y="3246120"/>
            <a:ext cx="2144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3246120"/>
            <a:ext cx="2816352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52360" y="324612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Leading/Coincident/Lagging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760220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370332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· CPI · PPI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18588" y="3703320"/>
            <a:ext cx="1952244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18588" y="3703320"/>
            <a:ext cx="1952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80560" y="370332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480560" y="370332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cycle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54496" y="3703320"/>
            <a:ext cx="1568196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4496" y="3703320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policy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32420" y="3703320"/>
            <a:ext cx="1760220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932420" y="370332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802368" y="3703320"/>
            <a:ext cx="1472184" cy="365760"/>
          </a:xfrm>
          <a:prstGeom prst="roundRect">
            <a:avLst>
              <a:gd name="adj" fmla="val 50000"/>
            </a:avLst>
          </a:prstGeom>
          <a:solidFill>
            <a:srgbClr val="2B3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802368" y="370332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supply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 term matters most, and why? What's your biggest "ah-ha" moment today?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701</Words>
  <Application>Microsoft Office PowerPoint</Application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Jin Park</cp:lastModifiedBy>
  <cp:revision>2</cp:revision>
  <dcterms:created xsi:type="dcterms:W3CDTF">2026-09-01T04:13:52Z</dcterms:created>
  <dcterms:modified xsi:type="dcterms:W3CDTF">2026-09-01T12:53:23Z</dcterms:modified>
</cp:coreProperties>
</file>