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086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5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98448"/>
            <a:ext cx="932688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LOSING">
    <p:bg>
      <p:bgPr>
        <a:solidFill>
          <a:srgbClr val="5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· CHAPTER 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Jin Park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98448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Resource Management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4203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i="1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company's org chart is only as good as the people filling it. Today we look at how businesses find, train, pay, and support their people.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7863840" cy="18288"/>
          </a:xfrm>
          <a:prstGeom prst="rect">
            <a:avLst/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382219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0A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 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managing employees throughout their entire employment lifecycle, from hiring to separation.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46920" y="1828800"/>
            <a:ext cx="1463040" cy="1463040"/>
          </a:xfrm>
          <a:prstGeom prst="ellipse">
            <a:avLst/>
          </a:prstGeom>
          <a:solidFill>
            <a:srgbClr val="551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646920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A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10698480" y="3657600"/>
            <a:ext cx="914400" cy="914400"/>
          </a:xfrm>
          <a:prstGeom prst="ellipse">
            <a:avLst/>
          </a:prstGeom>
          <a:solidFill>
            <a:srgbClr val="551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69848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600" dirty="0"/>
          </a:p>
        </p:txBody>
      </p:sp>
      <p:pic>
        <p:nvPicPr>
          <p:cNvPr id="12" name="Image 0" descr="ISU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80760"/>
            <a:ext cx="1691640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HRM lifecycle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activities that carry an employee from job posting to promotion.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45731" cy="2514600"/>
          </a:xfrm>
          <a:prstGeom prst="roundRect">
            <a:avLst>
              <a:gd name="adj" fmla="val 3409"/>
            </a:avLst>
          </a:prstGeom>
          <a:solidFill>
            <a:srgbClr val="5C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13232" y="1856232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834640"/>
            <a:ext cx="18165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planning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6576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future staffing needs.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85811" y="1691640"/>
            <a:ext cx="2145731" cy="2514600"/>
          </a:xfrm>
          <a:prstGeom prst="roundRect">
            <a:avLst>
              <a:gd name="adj" fmla="val 3409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50403" y="1856232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50403" y="2834640"/>
            <a:ext cx="18165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50403" y="36576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Attracting qualified candidates.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2982" y="1691640"/>
            <a:ext cx="2145731" cy="2514600"/>
          </a:xfrm>
          <a:prstGeom prst="roundRect">
            <a:avLst>
              <a:gd name="adj" fmla="val 3409"/>
            </a:avLst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187574" y="1856232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87574" y="2834640"/>
            <a:ext cx="18165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&amp; hiring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187574" y="36576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and choosing candidates.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60153" y="1691640"/>
            <a:ext cx="2145731" cy="2514600"/>
          </a:xfrm>
          <a:prstGeom prst="roundRect">
            <a:avLst>
              <a:gd name="adj" fmla="val 3409"/>
            </a:avLst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24745" y="1856232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24745" y="2834640"/>
            <a:ext cx="18165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24745" y="36576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skills employees need.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97324" y="1691640"/>
            <a:ext cx="2145731" cy="2514600"/>
          </a:xfrm>
          <a:prstGeom prst="roundRect">
            <a:avLst>
              <a:gd name="adj" fmla="val 3409"/>
            </a:avLst>
          </a:prstGeom>
          <a:solidFill>
            <a:srgbClr val="551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661916" y="1856232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61916" y="2834640"/>
            <a:ext cx="18165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Compensation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61916" y="36576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pay and benefits.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85455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9  ·  Human Resource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candidates come from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 role gets filled one of two ways.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B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5C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A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recruiting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a role with a current employee — faster, cheaper, good for morale, but limits new perspectives.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42152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B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62192" y="2011680"/>
            <a:ext cx="777240" cy="777240"/>
          </a:xfrm>
          <a:prstGeom prst="ellipse">
            <a:avLst/>
          </a:prstGeom>
          <a:solidFill>
            <a:srgbClr val="5C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62192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A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76592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recruiting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62192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a role with someone from outside — fresh ideas, but takes longer and costs more.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F5F6"/>
          </a:solidFill>
          <a:ln w="12700">
            <a:solidFill>
              <a:srgbClr val="F0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" y="5353812"/>
            <a:ext cx="402336" cy="402336"/>
          </a:xfrm>
          <a:prstGeom prst="ellipse">
            <a:avLst/>
          </a:prstGeom>
          <a:solidFill>
            <a:srgbClr val="E0A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49808" y="5353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276088"/>
            <a:ext cx="101342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discussion:  </a:t>
            </a: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job you've had or want. Would that role usually be filled internally or externally, and why?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9  ·  Human Resource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Training, developing, evaluating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someone is the beginning of HRM's job, not the end.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4778" cy="3931920"/>
          </a:xfrm>
          <a:prstGeom prst="roundRect">
            <a:avLst>
              <a:gd name="adj" fmla="val 2624"/>
            </a:avLst>
          </a:prstGeom>
          <a:solidFill>
            <a:srgbClr val="FB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502920"/>
          </a:xfrm>
          <a:prstGeom prst="rect">
            <a:avLst/>
          </a:prstGeom>
          <a:solidFill>
            <a:srgbClr val="5C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methods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93613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On-the-job training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Apprenticeships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training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3931920"/>
          </a:xfrm>
          <a:prstGeom prst="roundRect">
            <a:avLst>
              <a:gd name="adj" fmla="val 2624"/>
            </a:avLst>
          </a:prstGeom>
          <a:solidFill>
            <a:srgbClr val="FB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53458" y="1691640"/>
            <a:ext cx="3484778" cy="502920"/>
          </a:xfrm>
          <a:prstGeom prst="rect">
            <a:avLst/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82058" y="169164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development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27778" y="2377440"/>
            <a:ext cx="293613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rotation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learning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58277" y="1691640"/>
            <a:ext cx="3484778" cy="3931920"/>
          </a:xfrm>
          <a:prstGeom prst="roundRect">
            <a:avLst>
              <a:gd name="adj" fmla="val 2624"/>
            </a:avLst>
          </a:prstGeom>
          <a:solidFill>
            <a:srgbClr val="FB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58277" y="1691640"/>
            <a:ext cx="3484778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386877" y="169164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32597" y="2377440"/>
            <a:ext cx="293613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appraisals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setting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360-degree appraisal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9  ·  Human Resource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Pay, schedules, and the employee lifecycle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is more than a paycheck — and employment can end many ways.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502920"/>
          </a:xfrm>
          <a:prstGeom prst="roundRect">
            <a:avLst>
              <a:gd name="adj" fmla="val 10909"/>
            </a:avLst>
          </a:prstGeom>
          <a:solidFill>
            <a:srgbClr val="5C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6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"getting paid" includes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878836"/>
            <a:ext cx="384048" cy="384048"/>
          </a:xfrm>
          <a:prstGeom prst="ellipse">
            <a:avLst/>
          </a:prstGeom>
          <a:solidFill>
            <a:srgbClr val="F0D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2878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377440"/>
            <a:ext cx="4833976" cy="1240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— salary, wages, bonuses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265676"/>
            <a:ext cx="384048" cy="384048"/>
          </a:xfrm>
          <a:prstGeom prst="ellipse">
            <a:avLst/>
          </a:prstGeom>
          <a:solidFill>
            <a:srgbClr val="F0D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3764280"/>
            <a:ext cx="4833976" cy="1240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— health insurance, 401(k), PTO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5652516"/>
            <a:ext cx="384048" cy="384048"/>
          </a:xfrm>
          <a:prstGeom prst="ellipse">
            <a:avLst/>
          </a:prstGeom>
          <a:solidFill>
            <a:srgbClr val="F0D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56525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5151120"/>
            <a:ext cx="4833976" cy="1240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work — telecommuting, flextime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78728" y="1691640"/>
            <a:ext cx="5364328" cy="502920"/>
          </a:xfrm>
          <a:prstGeom prst="roundRect">
            <a:avLst>
              <a:gd name="adj" fmla="val 10909"/>
            </a:avLst>
          </a:prstGeom>
          <a:solidFill>
            <a:srgbClr val="E0A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78728" y="1691640"/>
            <a:ext cx="5364328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employment ends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78728" y="2705481"/>
            <a:ext cx="384048" cy="384048"/>
          </a:xfrm>
          <a:prstGeom prst="ellipse">
            <a:avLst/>
          </a:prstGeom>
          <a:solidFill>
            <a:srgbClr val="F0D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278728" y="27054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09080" y="237744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78728" y="3745611"/>
            <a:ext cx="384048" cy="384048"/>
          </a:xfrm>
          <a:prstGeom prst="ellipse">
            <a:avLst/>
          </a:prstGeom>
          <a:solidFill>
            <a:srgbClr val="F0D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278728" y="374561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09080" y="341757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78728" y="4785741"/>
            <a:ext cx="384048" cy="384048"/>
          </a:xfrm>
          <a:prstGeom prst="ellipse">
            <a:avLst/>
          </a:prstGeom>
          <a:solidFill>
            <a:srgbClr val="F0D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278728" y="478574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09080" y="445770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78728" y="5825871"/>
            <a:ext cx="384048" cy="384048"/>
          </a:xfrm>
          <a:prstGeom prst="ellipse">
            <a:avLst/>
          </a:prstGeom>
          <a:solidFill>
            <a:srgbClr val="F0D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278728" y="582587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09080" y="5497830"/>
            <a:ext cx="4833976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Buyout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9  ·  Human Resource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 strengthens the workforce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workforce that reflects a range of backgrounds tends to make better decisions.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7188" cy="3246120"/>
          </a:xfrm>
          <a:prstGeom prst="roundRect">
            <a:avLst>
              <a:gd name="adj" fmla="val 2817"/>
            </a:avLst>
          </a:prstGeom>
          <a:solidFill>
            <a:srgbClr val="FB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7188" cy="502920"/>
          </a:xfrm>
          <a:prstGeom prst="rect">
            <a:avLst/>
          </a:prstGeom>
          <a:solidFill>
            <a:srgbClr val="5C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492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diversity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385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perspectives on any problem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problem solving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global understanding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innovation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55868" y="1691640"/>
            <a:ext cx="5387188" cy="3246120"/>
          </a:xfrm>
          <a:prstGeom prst="roundRect">
            <a:avLst>
              <a:gd name="adj" fmla="val 2817"/>
            </a:avLst>
          </a:prstGeom>
          <a:solidFill>
            <a:srgbClr val="FB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87188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84468" y="1691640"/>
            <a:ext cx="492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2377440"/>
            <a:ext cx="48385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differences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differences</a:t>
            </a:r>
            <a:endParaRPr lang="en-US" sz="20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barriers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F5F6"/>
          </a:solidFill>
          <a:ln w="12700">
            <a:solidFill>
              <a:srgbClr val="F0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5353812"/>
            <a:ext cx="402336" cy="402336"/>
          </a:xfrm>
          <a:prstGeom prst="ellipse">
            <a:avLst/>
          </a:prstGeom>
          <a:solidFill>
            <a:srgbClr val="E0A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49808" y="5353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276088"/>
            <a:ext cx="101342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discussion:  </a:t>
            </a: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time diverse perspectives improved a group project or team decision. What made the difference?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9  ·  Human Resource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 unions and collective voice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employees feel they have little bargaining power alone, some organize together.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B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5C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A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unions push for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wages, improved working conditions, and job security — negotiated through collective bargaining with the employer.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42152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B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62192" y="2011680"/>
            <a:ext cx="777240" cy="777240"/>
          </a:xfrm>
          <a:prstGeom prst="ellipse">
            <a:avLst/>
          </a:prstGeom>
          <a:solidFill>
            <a:srgbClr val="5C1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62192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A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76592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5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apply pressure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562192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Strikes (stop working), picketing (public demonstration), and boycotts (encouraging the public not to buy).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F5F6"/>
          </a:solidFill>
          <a:ln w="12700">
            <a:solidFill>
              <a:srgbClr val="F0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" y="5353812"/>
            <a:ext cx="402336" cy="402336"/>
          </a:xfrm>
          <a:prstGeom prst="ellipse">
            <a:avLst/>
          </a:prstGeom>
          <a:solidFill>
            <a:srgbClr val="E0A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49808" y="5353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276088"/>
            <a:ext cx="101342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5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discussion:  </a:t>
            </a: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more industries be unionized today? What would workers gain — and what might companies argue they'd lose?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9  ·  Human Resource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9 · Closing the personnel file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showed how a company organizes its work. Chapter 9 showed how it finds, trains, and keeps the people doing it.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80644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8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57300" y="2148840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57300" y="214884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analysis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7772" y="2148840"/>
            <a:ext cx="1970532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747772" y="2148840"/>
            <a:ext cx="19705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recruiting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2148840"/>
            <a:ext cx="1970532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46320" y="2148840"/>
            <a:ext cx="19705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recruiting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4868" y="214884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944868" y="2148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360-degree appraisal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30284" y="2148840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130284" y="214884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20756" y="2148840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620756" y="214884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660904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266090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training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560320" y="2660904"/>
            <a:ext cx="1275588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560320" y="2660904"/>
            <a:ext cx="1275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union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63924" y="2660904"/>
            <a:ext cx="2144268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963924" y="2660904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bargaining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36208" y="2660904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236208" y="266090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05472" y="2660904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205472" y="2660904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Boycott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61604" y="2660904"/>
            <a:ext cx="1101852" cy="384048"/>
          </a:xfrm>
          <a:prstGeom prst="roundRect">
            <a:avLst>
              <a:gd name="adj" fmla="val 50000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261604" y="2660904"/>
            <a:ext cx="1101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8C3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68680" y="53949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E0A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 term matters most, and why? What would make you want to work for a company long-term?</a:t>
            </a:r>
            <a:endParaRPr lang="en-US" sz="1800" dirty="0"/>
          </a:p>
        </p:txBody>
      </p:sp>
      <p:pic>
        <p:nvPicPr>
          <p:cNvPr id="32" name="Image 0" descr="ISU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575" y="6172200"/>
            <a:ext cx="1554480" cy="539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598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Human Resource Management</vt:lpstr>
      <vt:lpstr>The HRM lifecycle</vt:lpstr>
      <vt:lpstr>Where candidates come from</vt:lpstr>
      <vt:lpstr>Training, developing, evaluating</vt:lpstr>
      <vt:lpstr>Pay, schedules, and the employee lifecycle</vt:lpstr>
      <vt:lpstr>Diversity strengthens the workforce</vt:lpstr>
      <vt:lpstr>Labor unions and collective voice</vt:lpstr>
      <vt:lpstr>Chapter 9 · Closing the personnel file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BUS 100</dc:creator>
  <cp:lastModifiedBy>Jin Park</cp:lastModifiedBy>
  <cp:revision>3</cp:revision>
  <dcterms:created xsi:type="dcterms:W3CDTF">2026-09-09T22:05:32Z</dcterms:created>
  <dcterms:modified xsi:type="dcterms:W3CDTF">2026-09-11T16:55:37Z</dcterms:modified>
</cp:coreProperties>
</file>