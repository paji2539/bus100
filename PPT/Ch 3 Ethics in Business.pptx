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3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522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98448"/>
            <a:ext cx="932688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LOSING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· CHAPTER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Jin Park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98448"/>
            <a:ext cx="9326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in Business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4203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decision runs through a filter nobody can see on a balance sheet: is this the right thing to do? Today we build the vocabulary to answer that question.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7863840" cy="18288"/>
          </a:xfrm>
          <a:prstGeom prst="rect">
            <a:avLst/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382219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study of the general nature of morals and the specific moral principles that govern a person's behavior.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46920" y="1828800"/>
            <a:ext cx="1463040" cy="1463040"/>
          </a:xfrm>
          <a:prstGeom prst="ellipse">
            <a:avLst/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646920" y="1828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10698480" y="3657600"/>
            <a:ext cx="914400" cy="914400"/>
          </a:xfrm>
          <a:prstGeom prst="ellipse">
            <a:avLst/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69848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2600" dirty="0"/>
          </a:p>
        </p:txBody>
      </p:sp>
      <p:pic>
        <p:nvPicPr>
          <p:cNvPr id="12" name="Image 0" descr="ISU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80760"/>
            <a:ext cx="1691640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 for deciding what's right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 reasons about right and wrong the same way.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0904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75688"/>
            <a:ext cx="393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Moral relativism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4760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universal moral truth — only individual beliefs, perspectives, and values. What's “right” depends on who you ask.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42152" y="1691640"/>
            <a:ext cx="5400904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62192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62192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76592" y="2075688"/>
            <a:ext cx="393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Situational ethics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62192" y="2926080"/>
            <a:ext cx="4760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made based on the specific situation at hand, instead of applying one universal law to every case.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3  ·  Ethics in Business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Unethical vs. amoral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thing — amoral goes a step further than unethical.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0904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75688"/>
            <a:ext cx="393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Unethical behavior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4760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that does not conform to a set of approved standards of social or professional behavior.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42152" y="1691640"/>
            <a:ext cx="5400904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62192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62192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76592" y="2075688"/>
            <a:ext cx="393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Amoral behavior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62192" y="2926080"/>
            <a:ext cx="4760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from a person who has no sense of right and wrong, and no interest in the moral consequences of their actions.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9808" y="5353812"/>
            <a:ext cx="402336" cy="402336"/>
          </a:xfrm>
          <a:prstGeom prst="ellipse">
            <a:avLst/>
          </a:prstGeom>
          <a:solidFill>
            <a:srgbClr val="E8B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49808" y="5353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276088"/>
            <a:ext cx="101342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discussion:  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living ethically make you happier and/or healthier?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3  ·  Ethics in Business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ethical frameworks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justify a decision, they're usually leaning on one of these — often without realizing it.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37178" cy="2898648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13232" y="1856232"/>
            <a:ext cx="33079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834640"/>
            <a:ext cx="330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Utilitarianism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657600"/>
            <a:ext cx="330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Consequence-based: the right choice produces the greatest good for the greatest number.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77258" y="1691640"/>
            <a:ext cx="3637178" cy="2898648"/>
          </a:xfrm>
          <a:prstGeom prst="roundRect">
            <a:avLst>
              <a:gd name="adj" fmla="val 2909"/>
            </a:avLst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441850" y="1856232"/>
            <a:ext cx="33079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41850" y="2834640"/>
            <a:ext cx="330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Deontology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441850" y="3657600"/>
            <a:ext cx="330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Duty-based: follows a moral rule or duty, regardless of the outcome it produces.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005877" y="1691640"/>
            <a:ext cx="3637178" cy="2898648"/>
          </a:xfrm>
          <a:prstGeom prst="roundRect">
            <a:avLst>
              <a:gd name="adj" fmla="val 2909"/>
            </a:avLst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170469" y="1856232"/>
            <a:ext cx="33079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170469" y="2834640"/>
            <a:ext cx="33079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Virtue ethics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170469" y="3657600"/>
            <a:ext cx="330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Character-based: reflects good traits — honesty, courage, fairness — over rules or outcomes.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85455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3  ·  Ethics in Business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ethics meets business ethics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leave your personal ethics at the door when you clock in.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7188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87188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492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ethics carries over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385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your actions, words, and thoughts — on the job and off</a:t>
            </a:r>
            <a:endParaRPr lang="en-US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Off-the-job integrity and honesty relate directly to on-the-job performance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5868" y="1691640"/>
            <a:ext cx="5387188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87188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84468" y="1691640"/>
            <a:ext cx="492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of ethics (code of conduct)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0188" y="2377440"/>
            <a:ext cx="48385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company's written statement of its commitment to certain ethical practices</a:t>
            </a:r>
            <a:endParaRPr lang="en-US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clearest windows into how it expects its people to behave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5353812"/>
            <a:ext cx="402336" cy="402336"/>
          </a:xfrm>
          <a:prstGeom prst="ellipse">
            <a:avLst/>
          </a:prstGeom>
          <a:solidFill>
            <a:srgbClr val="E8B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49808" y="5353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276088"/>
            <a:ext cx="101342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discussion:  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 are asked to do something that conflicts with your understanding of ethical behavior?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3  ·  Ethics in Business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pillars of CSR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social responsibility means making good decisions across five areas at once.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45731" cy="3602736"/>
          </a:xfrm>
          <a:prstGeom prst="roundRect">
            <a:avLst>
              <a:gd name="adj" fmla="val 34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13232" y="1856232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631440"/>
            <a:ext cx="18165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rights &amp; employment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6576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wages, safety, and treatment across the supply chain.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85811" y="1691640"/>
            <a:ext cx="2145731" cy="3602736"/>
          </a:xfrm>
          <a:prstGeom prst="roundRect">
            <a:avLst>
              <a:gd name="adj" fmla="val 3409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50403" y="1856232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50403" y="2631440"/>
            <a:ext cx="18165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sourcing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950403" y="36576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the environmental and social conditions where materials come from.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22982" y="1691640"/>
            <a:ext cx="2145731" cy="3602736"/>
          </a:xfrm>
          <a:prstGeom prst="roundRect">
            <a:avLst>
              <a:gd name="adj" fmla="val 3409"/>
            </a:avLst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187574" y="1856232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87574" y="2631440"/>
            <a:ext cx="18165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&amp; consumer issues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187574" y="36576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 advertising isn't enough — watch for manipulation too.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260153" y="1691640"/>
            <a:ext cx="2145731" cy="3602736"/>
          </a:xfrm>
          <a:prstGeom prst="roundRect">
            <a:avLst>
              <a:gd name="adj" fmla="val 3409"/>
            </a:avLst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24745" y="1856232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24745" y="2631440"/>
            <a:ext cx="18165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Environmental, health &amp; safety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424745" y="36576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factory emissions to warehouse safety rules.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9497324" y="1691640"/>
            <a:ext cx="2145731" cy="3602736"/>
          </a:xfrm>
          <a:prstGeom prst="roundRect">
            <a:avLst>
              <a:gd name="adj" fmla="val 3409"/>
            </a:avLst>
          </a:prstGeom>
          <a:solidFill>
            <a:schemeClr val="accent3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661916" y="1856232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61916" y="2631440"/>
            <a:ext cx="18165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relations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661916" y="36576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company treats the neighborhoods it operates in.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85455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3  ·  Ethics in Business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CSR: benefits, measurement, and challenges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socially responsible pays off — but it isn't free.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4778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reputation with consumers &amp; suppliers</a:t>
            </a:r>
            <a:endParaRPr lang="en-US" sz="17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recruitment and retention</a:t>
            </a:r>
            <a:endParaRPr lang="en-US" sz="17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 from less waste</a:t>
            </a:r>
            <a:endParaRPr lang="en-US" sz="17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via ethical innovation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53458" y="1691640"/>
            <a:ext cx="3484778" cy="502920"/>
          </a:xfrm>
          <a:prstGeom prst="rect">
            <a:avLst/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82058" y="169164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measured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27778" y="237744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audits</a:t>
            </a:r>
            <a:endParaRPr lang="en-US" sz="17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ratings &amp; rankings</a:t>
            </a:r>
            <a:endParaRPr lang="en-US" sz="17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Self-reporting</a:t>
            </a:r>
            <a:endParaRPr lang="en-US" sz="17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philanthropy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58277" y="1691640"/>
            <a:ext cx="3484778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58277" y="1691640"/>
            <a:ext cx="3484778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386877" y="169164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effects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32597" y="237744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investor returns vs. reducing harm</a:t>
            </a:r>
            <a:endParaRPr lang="en-US" sz="17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economic effects</a:t>
            </a:r>
            <a:endParaRPr lang="en-US" sz="17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on morale and social justice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5353812"/>
            <a:ext cx="402336" cy="402336"/>
          </a:xfrm>
          <a:prstGeom prst="ellipse">
            <a:avLst/>
          </a:prstGeom>
          <a:solidFill>
            <a:srgbClr val="E8B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49808" y="5353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276088"/>
            <a:ext cx="101342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discussion:  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real-world example of CSR.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3  ·  Ethics in Business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compliance and ethical conduct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legal and being ethical are related — but they are not the same thing.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0904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75688"/>
            <a:ext cx="393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regulations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4760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laws governing the products or processes of an industry.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42152" y="1691640"/>
            <a:ext cx="5400904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62192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62192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76592" y="2075688"/>
            <a:ext cx="393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compliance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62192" y="2926080"/>
            <a:ext cx="4760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a business within the boundaries of all the legal regulations of that industry.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9808" y="5353812"/>
            <a:ext cx="402336" cy="402336"/>
          </a:xfrm>
          <a:prstGeom prst="ellipse">
            <a:avLst/>
          </a:prstGeom>
          <a:solidFill>
            <a:srgbClr val="E8B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49808" y="5353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276088"/>
            <a:ext cx="101342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discussion:  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meeting legal requirements alone make a company ethical? Why might a company choose to do more than the law requires?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3  ·  Ethics in Business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as a business opportunity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ethical gap IS the market opportunity — this is where sustainability lives.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3108960"/>
          </a:xfrm>
          <a:prstGeom prst="roundRect">
            <a:avLst>
              <a:gd name="adj" fmla="val 2941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22221" y="198424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22221" y="19842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energy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market in simply making clean energy affordable to switch to.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38218" y="1691640"/>
            <a:ext cx="3515258" cy="3108960"/>
          </a:xfrm>
          <a:prstGeom prst="roundRect">
            <a:avLst>
              <a:gd name="adj" fmla="val 2941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1800" y="198424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711800" y="19842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9260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medicines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3429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diseases are rare and traditionally unprofitable — but persistence creates viable markets.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127797" y="1691640"/>
            <a:ext cx="3515258" cy="3108960"/>
          </a:xfrm>
          <a:prstGeom prst="roundRect">
            <a:avLst>
              <a:gd name="adj" fmla="val 2941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01378" y="198424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501378" y="19842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29260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Reclaimed materials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56397" y="3429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plastic and other reclaimed waste fuel an entirely new product category.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3  ·  Ethics in Business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ethical environment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employees right, and keeping the culture alive every day.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6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employees off to a start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22554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32255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377440"/>
            <a:ext cx="4833976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strict, current code of ethics in place — and actually communicate it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419836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41882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3340100"/>
            <a:ext cx="4833976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orientation programs so standards are clear from day one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78728" y="1691640"/>
            <a:ext cx="5364328" cy="502920"/>
          </a:xfrm>
          <a:prstGeom prst="roundRect">
            <a:avLst>
              <a:gd name="adj" fmla="val 10909"/>
            </a:avLst>
          </a:prstGeom>
          <a:solidFill>
            <a:srgbClr val="E8B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78728" y="1691640"/>
            <a:ext cx="5364328" cy="50292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it alive every day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78728" y="287883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278728" y="2878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809080" y="2377440"/>
            <a:ext cx="4833976" cy="1240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talk regularly about acceptable &amp; unacceptable practices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78728" y="366623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278728" y="3666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809080" y="3164840"/>
            <a:ext cx="4833976" cy="1240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hotlines let employees report violations safely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78728" y="450443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278728" y="4504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6809080" y="4003040"/>
            <a:ext cx="4833976" cy="1240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ethics training keeps awareness from fading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3  ·  Ethics in Business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focus: shareholder vs. stakeholder theory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influential, opposing answers to: who is a business actually responsible to?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87188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01952"/>
            <a:ext cx="4838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Shareholder theory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9152"/>
            <a:ext cx="4838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Milton Friedman · 1970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4838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of a business is to increase its profits — as long as it stays within the rules of the game: open, free competition, without deception or fraud.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954272"/>
            <a:ext cx="329184" cy="329184"/>
          </a:xfrm>
          <a:prstGeom prst="ellipse">
            <a:avLst/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3954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935984"/>
            <a:ext cx="439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counts: shareholders / owners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429760"/>
            <a:ext cx="329184" cy="329184"/>
          </a:xfrm>
          <a:prstGeom prst="ellipse">
            <a:avLst/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4429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4411472"/>
            <a:ext cx="439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risk if ignored: business drifts from its purpose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55868" y="1645920"/>
            <a:ext cx="5387188" cy="3931920"/>
          </a:xfrm>
          <a:prstGeom prst="roundRect">
            <a:avLst>
              <a:gd name="adj" fmla="val 232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530188" y="1901952"/>
            <a:ext cx="4838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theory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530188" y="2359152"/>
            <a:ext cx="4838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Edward Freeman · 1984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30188" y="2788920"/>
            <a:ext cx="4838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should create as much value as possible for all stakeholders — businesses exist to do more than make money for shareholders.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30188" y="3933952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30188" y="393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969100" y="3915664"/>
            <a:ext cx="439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counts: employees, customers, suppliers, community, environment &amp; shareholders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30188" y="440944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530188" y="4409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69100" y="4391152"/>
            <a:ext cx="439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risk if ignored: reputational and long-term harm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 ·  CHAPTER 3  ·  Ethics in Business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57150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9808" y="5902452"/>
            <a:ext cx="402336" cy="402336"/>
          </a:xfrm>
          <a:prstGeom prst="ellipse">
            <a:avLst/>
          </a:prstGeom>
          <a:solidFill>
            <a:srgbClr val="E8B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49808" y="59024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824728"/>
            <a:ext cx="101315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 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theory do you find more convincing? Can a company practice stakeholder theory and still satisfy Friedman's rule?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 · Closing the ledger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explained who sets a price and what happens when the economy turns. Chapter 3 asks: once a business can compete and turn a profit, what does it owe the people and world around it?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17904" y="2148840"/>
            <a:ext cx="1709928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1517904" y="214884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relativism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55848" y="2148840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 txBox="1"/>
          <p:nvPr/>
        </p:nvSpPr>
        <p:spPr>
          <a:xfrm>
            <a:off x="3355848" y="214884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ethics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67528" y="2148840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1" name="Text 9"/>
          <p:cNvSpPr txBox="1"/>
          <p:nvPr/>
        </p:nvSpPr>
        <p:spPr>
          <a:xfrm>
            <a:off x="5367528" y="214884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Unethical behavior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79208" y="2148840"/>
            <a:ext cx="1623060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 txBox="1"/>
          <p:nvPr/>
        </p:nvSpPr>
        <p:spPr>
          <a:xfrm>
            <a:off x="7379208" y="2148840"/>
            <a:ext cx="1623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Amoral behavior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30284" y="2148840"/>
            <a:ext cx="1623060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 txBox="1"/>
          <p:nvPr/>
        </p:nvSpPr>
        <p:spPr>
          <a:xfrm>
            <a:off x="9130284" y="2148840"/>
            <a:ext cx="1623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ethics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2660904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 txBox="1"/>
          <p:nvPr/>
        </p:nvSpPr>
        <p:spPr>
          <a:xfrm>
            <a:off x="548640" y="2660904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Utilitarianism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12848" y="2660904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 txBox="1"/>
          <p:nvPr/>
        </p:nvSpPr>
        <p:spPr>
          <a:xfrm>
            <a:off x="2212848" y="2660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Deontology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29584" y="2660904"/>
            <a:ext cx="1449324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 txBox="1"/>
          <p:nvPr/>
        </p:nvSpPr>
        <p:spPr>
          <a:xfrm>
            <a:off x="3529584" y="2660904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ethics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06924" y="2660904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3" name="Text 21"/>
          <p:cNvSpPr txBox="1"/>
          <p:nvPr/>
        </p:nvSpPr>
        <p:spPr>
          <a:xfrm>
            <a:off x="5106924" y="2660904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of ethics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71132" y="266090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5" name="Text 23"/>
          <p:cNvSpPr txBox="1"/>
          <p:nvPr/>
        </p:nvSpPr>
        <p:spPr>
          <a:xfrm>
            <a:off x="6771132" y="26609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social responsibility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85148" y="2660904"/>
            <a:ext cx="1796796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7" name="Text 25"/>
          <p:cNvSpPr txBox="1"/>
          <p:nvPr/>
        </p:nvSpPr>
        <p:spPr>
          <a:xfrm>
            <a:off x="9185148" y="2660904"/>
            <a:ext cx="17967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regulations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3172968"/>
            <a:ext cx="1709928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 txBox="1"/>
          <p:nvPr/>
        </p:nvSpPr>
        <p:spPr>
          <a:xfrm>
            <a:off x="548640" y="3172968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compliance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386584" y="317296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1" name="Text 29"/>
          <p:cNvSpPr txBox="1"/>
          <p:nvPr/>
        </p:nvSpPr>
        <p:spPr>
          <a:xfrm>
            <a:off x="2386584" y="317296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50792" y="3172968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3" name="Text 31"/>
          <p:cNvSpPr txBox="1"/>
          <p:nvPr/>
        </p:nvSpPr>
        <p:spPr>
          <a:xfrm>
            <a:off x="4050792" y="317296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Stockholder theory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62472" y="3172968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5" name="Text 33"/>
          <p:cNvSpPr txBox="1"/>
          <p:nvPr/>
        </p:nvSpPr>
        <p:spPr>
          <a:xfrm>
            <a:off x="6062472" y="317296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theory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68680" y="53949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 term matters most, and why? Where do you personally land — shareholder theory, stakeholder theory, or somewhere in between?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8" name="Image 0" descr="ISU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575" y="6172200"/>
            <a:ext cx="1554480" cy="539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1159</Words>
  <Application>Microsoft Office PowerPoint</Application>
  <PresentationFormat>Widescreen</PresentationFormat>
  <Paragraphs>175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Ethics in Business</vt:lpstr>
      <vt:lpstr>Two systems for deciding what's right</vt:lpstr>
      <vt:lpstr>Unethical vs. amoral</vt:lpstr>
      <vt:lpstr>Three ethical frameworks</vt:lpstr>
      <vt:lpstr>Personal ethics meets business ethics</vt:lpstr>
      <vt:lpstr>The five pillars of CSR</vt:lpstr>
      <vt:lpstr>CSR: benefits, measurement, and challenges</vt:lpstr>
      <vt:lpstr>Legal compliance and ethical conduct</vt:lpstr>
      <vt:lpstr>Ethics as a business opportunity</vt:lpstr>
      <vt:lpstr>Building an ethical environment</vt:lpstr>
      <vt:lpstr>Special focus: shareholder vs. stakeholder theory</vt:lpstr>
      <vt:lpstr>Chapter 3 · Closing the ledger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BUS 100</dc:creator>
  <cp:lastModifiedBy>Jin Park</cp:lastModifiedBy>
  <cp:revision>2</cp:revision>
  <dcterms:created xsi:type="dcterms:W3CDTF">2026-09-09T22:05:32Z</dcterms:created>
  <dcterms:modified xsi:type="dcterms:W3CDTF">2026-09-10T12:57:49Z</dcterms:modified>
</cp:coreProperties>
</file>